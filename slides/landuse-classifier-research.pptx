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642f8bcbca4a4c" /><Relationship Type="http://schemas.openxmlformats.org/officeDocument/2006/relationships/extended-properties" Target="/docProps/app.xml" Id="Rf95e216f3a1848ec" /><Relationship Type="http://schemas.openxmlformats.org/officeDocument/2006/relationships/officeDocument" Target="/ppt/presentation.xml" Id="R7992d24ddf9a41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328dc92c0b4015"/>
  </p:sldMasterIdLst>
  <p:notesMasterIdLst>
    <p:notesMasterId xmlns:r="http://schemas.openxmlformats.org/officeDocument/2006/relationships" r:id="R99f7af9999f54237"/>
  </p:notesMasterIdLst>
  <p:sldIdLst>
    <p:sldId xmlns:r="http://schemas.openxmlformats.org/officeDocument/2006/relationships" id="256" r:id="R47ce492a8f5c4b7d"/>
    <p:sldId xmlns:r="http://schemas.openxmlformats.org/officeDocument/2006/relationships" id="257" r:id="Rf3fc9dfa286d4d5f"/>
    <p:sldId xmlns:r="http://schemas.openxmlformats.org/officeDocument/2006/relationships" id="258" r:id="R74bd564416df4867"/>
    <p:sldId xmlns:r="http://schemas.openxmlformats.org/officeDocument/2006/relationships" id="259" r:id="R40d3d4501ac4463b"/>
    <p:sldId xmlns:r="http://schemas.openxmlformats.org/officeDocument/2006/relationships" id="260" r:id="Rac32a2d6a88b43c4"/>
    <p:sldId xmlns:r="http://schemas.openxmlformats.org/officeDocument/2006/relationships" id="261" r:id="R454f9c19441a465d"/>
    <p:sldId xmlns:r="http://schemas.openxmlformats.org/officeDocument/2006/relationships" id="262" r:id="R1616d1171682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d07098692a4575" /><Relationship Type="http://schemas.openxmlformats.org/officeDocument/2006/relationships/slideMaster" Target="/ppt/slideMasters/slideMaster1.xml" Id="Re4328dc92c0b4015" /><Relationship Type="http://schemas.openxmlformats.org/officeDocument/2006/relationships/notesMaster" Target="/ppt/notesMasters/notesMaster1.xml" Id="R99f7af9999f54237" /><Relationship Type="http://schemas.openxmlformats.org/officeDocument/2006/relationships/presProps" Target="/ppt/presProps.xml" Id="R67ab99e7cbf4458a" /><Relationship Type="http://schemas.openxmlformats.org/officeDocument/2006/relationships/tableStyles" Target="/ppt/tableStyles.xml" Id="Rd7600292c98a4b59" /><Relationship Type="http://schemas.openxmlformats.org/officeDocument/2006/relationships/slide" Target="/ppt/slides/slide1.xml" Id="R47ce492a8f5c4b7d" /><Relationship Type="http://schemas.openxmlformats.org/officeDocument/2006/relationships/slide" Target="/ppt/slides/slide2.xml" Id="Rf3fc9dfa286d4d5f" /><Relationship Type="http://schemas.openxmlformats.org/officeDocument/2006/relationships/slide" Target="/ppt/slides/slide3.xml" Id="R74bd564416df4867" /><Relationship Type="http://schemas.openxmlformats.org/officeDocument/2006/relationships/slide" Target="/ppt/slides/slide4.xml" Id="R40d3d4501ac4463b" /><Relationship Type="http://schemas.openxmlformats.org/officeDocument/2006/relationships/slide" Target="/ppt/slides/slide5.xml" Id="Rac32a2d6a88b43c4" /><Relationship Type="http://schemas.openxmlformats.org/officeDocument/2006/relationships/slide" Target="/ppt/slides/slide6.xml" Id="R454f9c19441a465d" /><Relationship Type="http://schemas.openxmlformats.org/officeDocument/2006/relationships/slide" Target="/ppt/slides/slide7.xml" Id="R1616d1171682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73e91654f6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10c19e6ca4d9c" /><Relationship Type="http://schemas.openxmlformats.org/officeDocument/2006/relationships/notesMaster" Target="/ppt/notesMasters/notesMaster1.xml" Id="R3fc4d7995d16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f56ba09b04a2c" /><Relationship Type="http://schemas.openxmlformats.org/officeDocument/2006/relationships/notesMaster" Target="/ppt/notesMasters/notesMaster1.xml" Id="R872a9971a207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10f5b07722472d" /><Relationship Type="http://schemas.openxmlformats.org/officeDocument/2006/relationships/notesMaster" Target="/ppt/notesMasters/notesMaster1.xml" Id="R1aa663a2dc1248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e94cf38f454e49" /><Relationship Type="http://schemas.openxmlformats.org/officeDocument/2006/relationships/notesMaster" Target="/ppt/notesMasters/notesMaster1.xml" Id="Rfc12cbbd2a92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a3c5e3e75445c" /><Relationship Type="http://schemas.openxmlformats.org/officeDocument/2006/relationships/notesMaster" Target="/ppt/notesMasters/notesMaster1.xml" Id="R1a699425d27e42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f6e71d5444fb0" /><Relationship Type="http://schemas.openxmlformats.org/officeDocument/2006/relationships/notesMaster" Target="/ppt/notesMasters/notesMaster1.xml" Id="R9c206e70e03c46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4139ae9474cb5" /><Relationship Type="http://schemas.openxmlformats.org/officeDocument/2006/relationships/notesMaster" Target="/ppt/notesMasters/notesMaster1.xml" Id="Ra6024660049d4a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question, not the implementation: can a short OSM description tell us whether a polygon is about landuse?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https://huggingface.co/NoeFlandre/osm-polygon-sentence-classifier/blob/main/studies/landuse-v1/README.md</a:t>
            </a:r>
          </a:p>
          <a:p xmlns:a="http://schemas.openxmlformats.org/drawingml/2006/main">
            <a:r>
              <a:t>https://huggingface.co/datasets/NoeFlandre/osm-polygon-wikidata-sentence-relevance</a:t>
            </a:r>
          </a:p>
          <a:p xmlns:a="http://schemas.openxmlformats.org/drawingml/2006/main">
            <a:r>
              <a:t>https://github.com/NoeFlandre/slides-colloquium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not predicting a landuse class for the polygon. It is deciding whether one sentence is useful evidence about landuse.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https://huggingface.co/datasets/NoeFlandre/osm-polygon-wikidata-sentence-relevance</a:t>
            </a:r>
          </a:p>
          <a:p xmlns:a="http://schemas.openxmlformats.org/drawingml/2006/main">
            <a:r>
              <a:t>https://github.com/NoeFlandre/osm-polygon-sentence-classifier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unit for the split is the polygon. The clean iterator then handles repeated sentence content in two passes: find contradictions, then emit clean representatives.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https://github.com/NoeFlandre/osm-polygon-sentence-classifier/blob/main/README.md</a:t>
            </a:r>
          </a:p>
          <a:p xmlns:a="http://schemas.openxmlformats.org/drawingml/2006/main">
            <a:r>
              <a:t>https://github.com/NoeFlandre/osm-polygon-sentence-classifier/blob/main/docs/guides/data-policy.md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controlled first study rather than a broad hyperparameter sweep. The protocol fixes the data and model identity while changing one training decision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https://huggingface.co/NoeFlandre/osm-polygon-sentence-classifier/blob/main/studies/landuse-v1/study.json</a:t>
            </a:r>
          </a:p>
          <a:p xmlns:a="http://schemas.openxmlformats.org/drawingml/2006/main">
            <a:r>
              <a:t>https://huggingface.co/jhu-clsp/mmBERT-small</a:t>
            </a:r>
          </a:p>
          <a:p xmlns:a="http://schemas.openxmlformats.org/drawingml/2006/main">
            <a:r>
              <a:t>https://huggingface.co/NoeFlandre/osm-polygon-sentence-classifier/blob/main/studies/landuse-v1/README.md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last-two-layer variant is the strongest family by mean validation positive F1. The chart shows the seven seed-42 screening runs; the callout summarizes the three replicated a06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https://huggingface.co/NoeFlandre/osm-polygon-sentence-classifier/blob/main/studies/landuse-v1/results.json</a:t>
            </a:r>
          </a:p>
          <a:p xmlns:a="http://schemas.openxmlformats.org/drawingml/2006/main">
            <a:r>
              <a:t>https://huggingface.co/NoeFlandre/osm-polygon-sentence-classifier/blob/main/studies/landuse-v1/README.md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conclusion calibrated. These are validation results from a controlled study, not a held-out test estimate. The next study has to separate model selection from final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https://huggingface.co/NoeFlandre/osm-polygon-sentence-classifier/blob/main/studies/landuse-v1/README.md</a:t>
            </a:r>
          </a:p>
          <a:p xmlns:a="http://schemas.openxmlformats.org/drawingml/2006/main">
            <a:r>
              <a:t>https://huggingface.co/NoeFlandre/osm-polygon-sentence-classifier/blob/main/studies/landuse-v1/results.json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research decision: the classifier is ready for a properly separated held-out evaluation, not for a stronger claim than the current evidence supports.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https://huggingface.co/NoeFlandre/osm-polygon-sentence-classifier/tree/main/studies/landuse-v1</a:t>
            </a:r>
          </a:p>
          <a:p xmlns:a="http://schemas.openxmlformats.org/drawingml/2006/main">
            <a:r>
              <a:t>https://huggingface.co/spaces/NoeFlandre/osm-polygon-sentence-classifier-trackio</a:t>
            </a:r>
          </a:p>
          <a:p xmlns:a="http://schemas.openxmlformats.org/drawingml/2006/main">
            <a:r>
              <a:t>https://huggingface.co/NoeFlandre/osm-polygon-sentence-classifier/blob/main/README.md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733759d294f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108b55db243ea" /><Relationship Type="http://schemas.openxmlformats.org/officeDocument/2006/relationships/slideLayout" Target="/ppt/slideLayouts/slideLayout1.xml" Id="R30abd229b70a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bd229b70a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5145a505d4822" /><Relationship Type="http://schemas.openxmlformats.org/officeDocument/2006/relationships/notesSlide" Target="/ppt/notesSlides/notesSlide1.xml" Id="R3a2c9d132487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911bde9484d00" /><Relationship Type="http://schemas.openxmlformats.org/officeDocument/2006/relationships/notesSlide" Target="/ppt/notesSlides/notesSlide2.xml" Id="R97ced90fe179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9edbb905f4350" /><Relationship Type="http://schemas.openxmlformats.org/officeDocument/2006/relationships/notesSlide" Target="/ppt/notesSlides/notesSlide3.xml" Id="R6fd978a04044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ec01c0acd4238" /><Relationship Type="http://schemas.openxmlformats.org/officeDocument/2006/relationships/notesSlide" Target="/ppt/notesSlides/notesSlide4.xml" Id="R7bff0184835f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20211d9c24e28" /><Relationship Type="http://schemas.openxmlformats.org/officeDocument/2006/relationships/chart" Target="/ppt/slides/charts/chart1.xml" Id="R2cff6c4b365a4b37" /><Relationship Type="http://schemas.openxmlformats.org/officeDocument/2006/relationships/notesSlide" Target="/ppt/notesSlides/notesSlide5.xml" Id="R3b36ba000ce346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e49321c94f27" /><Relationship Type="http://schemas.openxmlformats.org/officeDocument/2006/relationships/notesSlide" Target="/ppt/notesSlides/notesSlide6.xml" Id="Rd606c5d46796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b0c3f45984f9e" /><Relationship Type="http://schemas.openxmlformats.org/officeDocument/2006/relationships/notesSlide" Target="/ppt/notesSlides/notesSlide7.xml" Id="Rd2ab884d462641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Positive F1</c:v>
          </c:tx>
          <c:spPr>
            <a:solidFill xmlns:a="http://schemas.openxmlformats.org/drawingml/2006/main">
              <a:srgbClr val="2F5D8C"/>
            </a:solidFill>
          </c:spPr>
          <c:dPt>
            <c:idx val="6"/>
            <c:invertIfNegative val="0"/>
            <c:spPr>
              <a:solidFill xmlns:a="http://schemas.openxmlformats.org/drawingml/2006/main">
                <a:srgbClr val="147D83"/>
              </a:solidFill>
              <a:ln xmlns:a="http://schemas.openxmlformats.org/drawingml/2006/main" w="0">
                <a:solidFill>
                  <a:srgbClr val="147D83"/>
                </a:solidFill>
                <a:prstDash val="solid"/>
              </a:ln>
            </c:spPr>
          </c:dPt>
          <c:cat>
            <c:strLit>
              <c:ptCount val="7"/>
              <c:pt idx="0">
                <c:v>baseline · 256</c:v>
              </c:pt>
              <c:pt idx="1">
                <c:v>head · 128</c:v>
              </c:pt>
              <c:pt idx="2">
                <c:v>head · 512</c:v>
              </c:pt>
              <c:pt idx="3">
                <c:v>head · lr 1e-4</c:v>
              </c:pt>
              <c:pt idx="4">
                <c:v>head · lr 1e-3</c:v>
              </c:pt>
              <c:pt idx="5">
                <c:v>balanced head</c:v>
              </c:pt>
              <c:pt idx="6">
                <c:v>last two layers</c:v>
              </c:pt>
            </c:strLit>
          </c:cat>
          <c:val>
            <c:numLit>
              <c:formatCode>0.0000</c:formatCode>
              <c:ptCount val="7"/>
              <c:pt idx="0">
                <c:v>0.5298</c:v>
              </c:pt>
              <c:pt idx="1">
                <c:v>0.5062</c:v>
              </c:pt>
              <c:pt idx="2">
                <c:v>0.5233</c:v>
              </c:pt>
              <c:pt idx="3">
                <c:v>0.5287</c:v>
              </c:pt>
              <c:pt idx="4">
                <c:v>0.5144</c:v>
              </c:pt>
              <c:pt idx="5">
                <c:v>0.4919</c:v>
              </c:pt>
              <c:pt idx="6">
                <c:v>0.564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7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CFE"/>
        </a:solidFill>
        <a:ln xmlns:a="http://schemas.openxmlformats.org/drawingml/2006/main" w="0">
          <a:solidFill>
            <a:srgbClr val="FBFCFE"/>
          </a:solidFill>
          <a:prstDash val="solid"/>
        </a:ln>
      </c:spPr>
    </c:plotArea>
    <c:plotVisOnly val="1"/>
  </c:chart>
  <c:spPr>
    <a:solidFill xmlns:a="http://schemas.openxmlformats.org/drawingml/2006/main">
      <a:srgbClr val="FBFCFE"/>
    </a:solidFill>
    <a:ln xmlns:a="http://schemas.openxmlformats.org/drawingml/2006/main" w="0">
      <a:solidFill>
        <a:srgbClr val="FBFCFE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sidebar">
            <a:extLst xmlns:a="http://schemas.openxmlformats.org/drawingml/2006/main">
              <a:ext uri="{FF2B5EF4-FFF2-40B4-BE49-F238E27FC236}">
                <a16:creationId xmlns:a16="http://schemas.microsoft.com/office/drawing/2014/main" id="{7B404BCC-6400-4332-B4B2-D31F3CD2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2F8BB570-C508-47D1-8C74-E7551B64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5D8C"/>
                </a:solidFill>
              </a:defRPr>
            </a:pPr>
            <a:r>
              <a:rPr sz="1200" b="1">
                <a:solidFill>
                  <a:srgbClr val="2F5D8C"/>
                </a:solidFill>
              </a:rPr>
              <a:t>OSM · TEXT CLASSIFICATION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5810D4E1-E49A-448D-A869-5EEB93B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14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172033"/>
                </a:solidFill>
              </a:defRPr>
            </a:pPr>
            <a:r>
              <a:rPr sz="4350" b="1">
                <a:solidFill>
                  <a:srgbClr val="172033"/>
                </a:solidFill>
              </a:rPr>
              <a:t>OSM polygon descriptions contain a usable landuse signal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D4A98B-1C39-4C65-ACEC-F4465A6C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5" name="title-promise">
            <a:extLst xmlns:a="http://schemas.openxmlformats.org/drawingml/2006/main">
              <a:ext uri="{FF2B5EF4-FFF2-40B4-BE49-F238E27FC236}">
                <a16:creationId xmlns:a16="http://schemas.microsoft.com/office/drawing/2014/main" id="{2DE93D82-95E2-408F-ABB6-5B7081E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D6B7E"/>
                </a:solidFill>
              </a:defRPr>
            </a:pPr>
            <a:r>
              <a:rPr sz="1875" b="0">
                <a:solidFill>
                  <a:srgbClr val="5D6B7E"/>
                </a:solidFill>
              </a:rPr>
              <a:t>A sentence-level classifier, evaluated without letting repeated text leak across polygons.</a:t>
            </a:r>
          </a:p>
        </p:txBody>
      </p:sp>
      <p:sp>
        <p:nvSpPr>
          <p:cNvPr id="6" name="title-meta">
            <a:extLst xmlns:a="http://schemas.openxmlformats.org/drawingml/2006/main">
              <a:ext uri="{FF2B5EF4-FFF2-40B4-BE49-F238E27FC236}">
                <a16:creationId xmlns:a16="http://schemas.microsoft.com/office/drawing/2014/main" id="{D05D355C-8A3A-4DB8-8EAF-E93D4C5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577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Noe Flandre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August 2026</a:t>
            </a:r>
          </a:p>
        </p:txBody>
      </p:sp>
      <p:sp>
        <p:nvSpPr>
          <p:cNvPr id="7" name="title-side-note">
            <a:extLst xmlns:a="http://schemas.openxmlformats.org/drawingml/2006/main">
              <a:ext uri="{FF2B5EF4-FFF2-40B4-BE49-F238E27FC236}">
                <a16:creationId xmlns:a16="http://schemas.microsoft.com/office/drawing/2014/main" id="{13676031-D658-4837-8A05-0CE300F2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191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landuse-v1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research summary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F10BDC-9E26-422E-A149-750D5355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E0A10EE-3D64-44DA-AAE1-4749F21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1 / 7</a:t>
            </a:r>
          </a:p>
        </p:txBody>
      </p:sp>
      <p:sp>
        <p:nvSpPr>
          <p:cNvPr id="10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0FEA9F4F-5C7B-448A-A30B-887E4D1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1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4C265390-AFD9-4291-A257-31679DE2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54577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9948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6BDCB98-E633-4E49-987D-75F25B9B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THE TASK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A3EAE2B-1825-4869-A854-7ADC37F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A4C534-99E3-4581-B78E-768CA42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E7C6A05-DAD1-4C45-9021-74853CCA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2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461422DD-FC41-418B-A465-0D171DE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87C38F63-26DB-44F1-BE08-A4A2CCD6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309154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C0252D5-9B25-4035-A5F7-9A9B950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We want to tell whether a sentence describes landuse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F532C0-564B-492A-8C2D-9083273E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9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C335AC8-86A2-4F2C-BB40-FE0D347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5D8C"/>
                </a:solidFill>
              </a:defRPr>
            </a:pPr>
            <a:r>
              <a:rPr sz="1125" b="1">
                <a:solidFill>
                  <a:srgbClr val="2F5D8C"/>
                </a:solidFill>
              </a:rPr>
              <a:t>INPUT</a:t>
            </a:r>
          </a:p>
        </p:txBody>
      </p:sp>
      <p:sp>
        <p:nvSpPr>
          <p:cNvPr id="1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8BA40770-CED3-451E-A9A3-8925F8E1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An OSM polygon description sentence</a:t>
            </a:r>
          </a:p>
        </p:txBody>
      </p:sp>
      <p:sp>
        <p:nvSpPr>
          <p:cNvPr id="11" name="input-copy">
            <a:extLst xmlns:a="http://schemas.openxmlformats.org/drawingml/2006/main">
              <a:ext uri="{FF2B5EF4-FFF2-40B4-BE49-F238E27FC236}">
                <a16:creationId xmlns:a16="http://schemas.microsoft.com/office/drawing/2014/main" id="{235CE622-711F-4F3F-932C-C5DF76E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B7E"/>
                </a:solidFill>
              </a:defRPr>
            </a:pPr>
            <a:r>
              <a:rPr sz="1650" b="0">
                <a:solidFill>
                  <a:srgbClr val="5D6B7E"/>
                </a:solidFill>
              </a:rPr>
              <a:t>The sentence may describe what the place is used for, or it may describe something else.</a:t>
            </a:r>
          </a:p>
        </p:txBody>
      </p:sp>
      <p:sp>
        <p:nvSpPr>
          <p:cNvPr id="12" name="column-rule">
            <a:extLst xmlns:a="http://schemas.openxmlformats.org/drawingml/2006/main">
              <a:ext uri="{FF2B5EF4-FFF2-40B4-BE49-F238E27FC236}">
                <a16:creationId xmlns:a16="http://schemas.microsoft.com/office/drawing/2014/main" id="{8FAE7304-3DFC-475B-BE68-2AE98188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3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69D866A-CADD-4AAA-B6D4-9B1F27C4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47D83"/>
                </a:solidFill>
              </a:defRPr>
            </a:pPr>
            <a:r>
              <a:rPr sz="1125" b="1">
                <a:solidFill>
                  <a:srgbClr val="147D83"/>
                </a:solidFill>
              </a:rPr>
              <a:t>OUTPUT</a:t>
            </a:r>
          </a:p>
        </p:txBody>
      </p:sp>
      <p:sp>
        <p:nvSpPr>
          <p:cNvPr id="14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A9B37A8D-BF85-4A6A-839F-39933F4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Landuse relevant?</a:t>
            </a:r>
          </a:p>
        </p:txBody>
      </p:sp>
      <p:sp>
        <p:nvSpPr>
          <p:cNvPr id="15" name="yes-box">
            <a:extLst xmlns:a="http://schemas.openxmlformats.org/drawingml/2006/main">
              <a:ext uri="{FF2B5EF4-FFF2-40B4-BE49-F238E27FC236}">
                <a16:creationId xmlns:a16="http://schemas.microsoft.com/office/drawing/2014/main" id="{62806A9E-CAFC-48AB-8F56-9D164F3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1676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7D83"/>
          </a:solidFill>
          <a:ln xmlns:a="http://schemas.openxmlformats.org/drawingml/2006/main" w="0">
            <a:solidFill>
              <a:srgbClr val="147D83"/>
            </a:solidFill>
            <a:prstDash val="solid"/>
          </a:ln>
        </p:spPr>
      </p:sp>
      <p:sp>
        <p:nvSpPr>
          <p:cNvPr id="16" name="yes-text">
            <a:extLst xmlns:a="http://schemas.openxmlformats.org/drawingml/2006/main">
              <a:ext uri="{FF2B5EF4-FFF2-40B4-BE49-F238E27FC236}">
                <a16:creationId xmlns:a16="http://schemas.microsoft.com/office/drawing/2014/main" id="{0A3B541B-A368-4B58-923C-420F5B1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7" name="no-box">
            <a:extLst xmlns:a="http://schemas.openxmlformats.org/drawingml/2006/main">
              <a:ext uri="{FF2B5EF4-FFF2-40B4-BE49-F238E27FC236}">
                <a16:creationId xmlns:a16="http://schemas.microsoft.com/office/drawing/2014/main" id="{E25F98D8-9591-403F-AF1C-A112608E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1676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no-text">
            <a:extLst xmlns:a="http://schemas.openxmlformats.org/drawingml/2006/main">
              <a:ext uri="{FF2B5EF4-FFF2-40B4-BE49-F238E27FC236}">
                <a16:creationId xmlns:a16="http://schemas.microsoft.com/office/drawing/2014/main" id="{97058C12-86E9-4AC1-82A5-54270221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5D6B7E"/>
                </a:solidFill>
              </a:defRPr>
            </a:pPr>
            <a:r>
              <a:rPr sz="1875" b="1">
                <a:solidFill>
                  <a:srgbClr val="5D6B7E"/>
                </a:solidFill>
              </a:rPr>
              <a:t>NO</a:t>
            </a:r>
          </a:p>
        </p:txBody>
      </p:sp>
      <p:sp>
        <p:nvSpPr>
          <p:cNvPr id="19" name="task-implication">
            <a:extLst xmlns:a="http://schemas.openxmlformats.org/drawingml/2006/main">
              <a:ext uri="{FF2B5EF4-FFF2-40B4-BE49-F238E27FC236}">
                <a16:creationId xmlns:a16="http://schemas.microsoft.com/office/drawing/2014/main" id="{19C18F4D-8DAB-43EF-94FC-81D20B3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F5D8C"/>
                </a:solidFill>
              </a:defRPr>
            </a:pPr>
            <a:r>
              <a:rPr sz="1725" b="1">
                <a:solidFill>
                  <a:srgbClr val="2F5D8C"/>
                </a:solidFill>
              </a:rPr>
              <a:t>The decision is small. The evaluation has to be careful, because the same sentence can appear in more than one polygon.</a:t>
            </a:r>
          </a:p>
        </p:txBody>
      </p:sp>
    </p:spTree>
    <p:extLst>
      <p:ext uri="{BB962C8B-B14F-4D97-AF65-F5344CB8AC3E}">
        <p14:creationId xmlns:p14="http://schemas.microsoft.com/office/powerpoint/2010/main" val="422986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C671B554-C737-4297-B01D-B10D6B1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THE EVALUATION BOUNDARY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5F57F12-B886-4989-8737-9B70B68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03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E399A0-0133-4086-AB25-4594CC7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E369530-A023-47F5-9F26-BF4A9CE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3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C26DB371-AC36-4D58-AD32-BBE56887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D89E3610-0133-435D-B16E-BEF76588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463731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DE57D55-7474-4877-A794-E462E90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We protect the evaluation split from repeated sentences</a:t>
            </a: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E2833CF7-131D-4339-9DC1-6FDC170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D6B7E"/>
                </a:solidFill>
              </a:defRPr>
            </a:pPr>
            <a:r>
              <a:rPr sz="1575" b="0">
                <a:solidFill>
                  <a:srgbClr val="5D6B7E"/>
                </a:solidFill>
              </a:rPr>
              <a:t>A sentence may be repeated across polygons. We keep the split at polygon level, then remove the cases that could give the model the answer twice.</a:t>
            </a:r>
          </a:p>
        </p:txBody>
      </p:sp>
      <p:sp>
        <p:nvSpPr>
          <p:cNvPr id="9" name="timeline">
            <a:extLst xmlns:a="http://schemas.openxmlformats.org/drawingml/2006/main">
              <a:ext uri="{FF2B5EF4-FFF2-40B4-BE49-F238E27FC236}">
                <a16:creationId xmlns:a16="http://schemas.microsoft.com/office/drawing/2014/main" id="{2570B9DE-E24C-4FAC-AE6A-F0362E5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3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0" name="step-one-number">
            <a:extLst xmlns:a="http://schemas.openxmlformats.org/drawingml/2006/main">
              <a:ext uri="{FF2B5EF4-FFF2-40B4-BE49-F238E27FC236}">
                <a16:creationId xmlns:a16="http://schemas.microsoft.com/office/drawing/2014/main" id="{13D73770-40C5-4F36-B245-7845688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2F5D8C"/>
                </a:solidFill>
              </a:defRPr>
            </a:pPr>
            <a:r>
              <a:rPr sz="2400" b="1">
                <a:solidFill>
                  <a:srgbClr val="2F5D8C"/>
                </a:solidFill>
              </a:rPr>
              <a:t>1</a:t>
            </a:r>
          </a:p>
        </p:txBody>
      </p:sp>
      <p:sp>
        <p:nvSpPr>
          <p:cNvPr id="11" name="step-one-title">
            <a:extLst xmlns:a="http://schemas.openxmlformats.org/drawingml/2006/main">
              <a:ext uri="{FF2B5EF4-FFF2-40B4-BE49-F238E27FC236}">
                <a16:creationId xmlns:a16="http://schemas.microsoft.com/office/drawing/2014/main" id="{ADB2389B-C176-41FD-9137-AA1C2F60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Find disagreement</a:t>
            </a:r>
          </a:p>
        </p:txBody>
      </p:sp>
      <p:sp>
        <p:nvSpPr>
          <p:cNvPr id="12" name="step-one-copy">
            <a:extLst xmlns:a="http://schemas.openxmlformats.org/drawingml/2006/main">
              <a:ext uri="{FF2B5EF4-FFF2-40B4-BE49-F238E27FC236}">
                <a16:creationId xmlns:a16="http://schemas.microsoft.com/office/drawing/2014/main" id="{6F269C3E-7866-4C60-89A5-EC9BFD27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D6B7E"/>
                </a:solidFill>
              </a:defRPr>
            </a:pPr>
            <a:r>
              <a:rPr sz="1575" b="0">
                <a:solidFill>
                  <a:srgbClr val="5D6B7E"/>
                </a:solidFill>
              </a:rPr>
              <a:t>If the same sentence content receives both labels, exclude it from training.</a:t>
            </a:r>
          </a:p>
        </p:txBody>
      </p:sp>
      <p:sp>
        <p:nvSpPr>
          <p:cNvPr id="13" name="step-two-number">
            <a:extLst xmlns:a="http://schemas.openxmlformats.org/drawingml/2006/main">
              <a:ext uri="{FF2B5EF4-FFF2-40B4-BE49-F238E27FC236}">
                <a16:creationId xmlns:a16="http://schemas.microsoft.com/office/drawing/2014/main" id="{B0BF7EDB-E22D-482F-8090-0C4C62C7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47D83"/>
                </a:solidFill>
              </a:defRPr>
            </a:pPr>
            <a:r>
              <a:rPr sz="2400" b="1">
                <a:solidFill>
                  <a:srgbClr val="147D83"/>
                </a:solidFill>
              </a:rPr>
              <a:t>2</a:t>
            </a:r>
          </a:p>
        </p:txBody>
      </p:sp>
      <p:sp>
        <p:nvSpPr>
          <p:cNvPr id="14" name="step-two-title">
            <a:extLst xmlns:a="http://schemas.openxmlformats.org/drawingml/2006/main">
              <a:ext uri="{FF2B5EF4-FFF2-40B4-BE49-F238E27FC236}">
                <a16:creationId xmlns:a16="http://schemas.microsoft.com/office/drawing/2014/main" id="{E2A3B1B0-4B51-4642-A984-E363D0C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Keep one representative</a:t>
            </a:r>
          </a:p>
        </p:txBody>
      </p:sp>
      <p:sp>
        <p:nvSpPr>
          <p:cNvPr id="15" name="step-two-copy">
            <a:extLst xmlns:a="http://schemas.openxmlformats.org/drawingml/2006/main">
              <a:ext uri="{FF2B5EF4-FFF2-40B4-BE49-F238E27FC236}">
                <a16:creationId xmlns:a16="http://schemas.microsoft.com/office/drawing/2014/main" id="{85F0E92B-D13D-42E3-B024-A8308E6D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D6B7E"/>
                </a:solidFill>
              </a:defRPr>
            </a:pPr>
            <a:r>
              <a:rPr sz="1575" b="0">
                <a:solidFill>
                  <a:srgbClr val="5D6B7E"/>
                </a:solidFill>
              </a:rPr>
              <a:t>For the remaining repeated sentences, keep the first usable occurrence.</a:t>
            </a:r>
          </a:p>
        </p:txBody>
      </p:sp>
      <p:sp>
        <p:nvSpPr>
          <p:cNvPr id="16" name="no-leakage-box">
            <a:extLst xmlns:a="http://schemas.openxmlformats.org/drawingml/2006/main">
              <a:ext uri="{FF2B5EF4-FFF2-40B4-BE49-F238E27FC236}">
                <a16:creationId xmlns:a16="http://schemas.microsoft.com/office/drawing/2014/main" id="{69E925DB-7F75-4B5A-ADF0-1D4CA89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8100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17" name="no-leakage-label">
            <a:extLst xmlns:a="http://schemas.openxmlformats.org/drawingml/2006/main">
              <a:ext uri="{FF2B5EF4-FFF2-40B4-BE49-F238E27FC236}">
                <a16:creationId xmlns:a16="http://schemas.microsoft.com/office/drawing/2014/main" id="{5C08398B-B15A-409F-8209-3361E4ED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5D8C"/>
                </a:solidFill>
              </a:defRPr>
            </a:pPr>
            <a:r>
              <a:rPr sz="1125" b="1">
                <a:solidFill>
                  <a:srgbClr val="2F5D8C"/>
                </a:solidFill>
              </a:rPr>
              <a:t>NO POLYGON LEAKAGE</a:t>
            </a:r>
          </a:p>
        </p:txBody>
      </p:sp>
      <p:sp>
        <p:nvSpPr>
          <p:cNvPr id="18" name="no-leakage-copy">
            <a:extLst xmlns:a="http://schemas.openxmlformats.org/drawingml/2006/main">
              <a:ext uri="{FF2B5EF4-FFF2-40B4-BE49-F238E27FC236}">
                <a16:creationId xmlns:a16="http://schemas.microsoft.com/office/drawing/2014/main" id="{27A7A499-70B5-4B82-BC3D-FE78FDEA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One sentence cannot be evidence on both sides of the split.</a:t>
            </a:r>
          </a:p>
        </p:txBody>
      </p:sp>
      <p:sp>
        <p:nvSpPr>
          <p:cNvPr id="19" name="no-leakage-footnote">
            <a:extLst xmlns:a="http://schemas.openxmlformats.org/drawingml/2006/main">
              <a:ext uri="{FF2B5EF4-FFF2-40B4-BE49-F238E27FC236}">
                <a16:creationId xmlns:a16="http://schemas.microsoft.com/office/drawing/2014/main" id="{BF2B196C-F1F8-41A7-B790-2759A64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14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Mixed-label polygons are reported.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Contradictory labels are removed.</a:t>
            </a:r>
          </a:p>
        </p:txBody>
      </p:sp>
    </p:spTree>
    <p:extLst>
      <p:ext uri="{BB962C8B-B14F-4D97-AF65-F5344CB8AC3E}">
        <p14:creationId xmlns:p14="http://schemas.microsoft.com/office/powerpoint/2010/main" val="126249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4FDCF63-0AE0-4D47-A11B-714C6AF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THE FIRST STUDY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9BE44E5-C1BC-4FF2-813F-B6236A2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04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38A655-41F9-47BC-BA86-CC47FDA7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F23B167-A85C-46C5-AE48-1F40ECF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4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56127C65-437E-4247-B3C6-EA65910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A0CA2615-0494-46DE-9BE3-D52642B8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618308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6FB642D-7054-445B-8F74-B9F3187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The study changes one training choice at a time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17D0CD-9436-4D2E-A40E-5E32D85D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9" name="run-count">
            <a:extLst xmlns:a="http://schemas.openxmlformats.org/drawingml/2006/main">
              <a:ext uri="{FF2B5EF4-FFF2-40B4-BE49-F238E27FC236}">
                <a16:creationId xmlns:a16="http://schemas.microsoft.com/office/drawing/2014/main" id="{6AAF672C-C0DB-49B0-83A8-2A1B8E2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4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2F5D8C"/>
                </a:solidFill>
              </a:defRPr>
            </a:pPr>
            <a:r>
              <a:rPr sz="4650" b="1">
                <a:solidFill>
                  <a:srgbClr val="2F5D8C"/>
                </a:solidFill>
              </a:rPr>
              <a:t>13</a:t>
            </a:r>
          </a:p>
        </p:txBody>
      </p:sp>
      <p:sp>
        <p:nvSpPr>
          <p:cNvPr id="10" name="run-count-label">
            <a:extLst xmlns:a="http://schemas.openxmlformats.org/drawingml/2006/main">
              <a:ext uri="{FF2B5EF4-FFF2-40B4-BE49-F238E27FC236}">
                <a16:creationId xmlns:a16="http://schemas.microsoft.com/office/drawing/2014/main" id="{34A9AC3D-FCD4-4F9E-9743-F30E84B2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D6B7E"/>
                </a:solidFill>
              </a:defRPr>
            </a:pPr>
            <a:r>
              <a:rPr sz="1500" b="1">
                <a:solidFill>
                  <a:srgbClr val="5D6B7E"/>
                </a:solidFill>
              </a:rPr>
              <a:t>completed runs</a:t>
            </a:r>
          </a:p>
        </p:txBody>
      </p:sp>
      <p:sp>
        <p:nvSpPr>
          <p:cNvPr id="11" name="run-count-copy">
            <a:extLst xmlns:a="http://schemas.openxmlformats.org/drawingml/2006/main">
              <a:ext uri="{FF2B5EF4-FFF2-40B4-BE49-F238E27FC236}">
                <a16:creationId xmlns:a16="http://schemas.microsoft.com/office/drawing/2014/main" id="{9B9E4C44-3EF2-4158-936B-34B73E9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D6B7E"/>
                </a:solidFill>
              </a:defRPr>
            </a:pPr>
            <a:r>
              <a:rPr sz="1650" b="0">
                <a:solidFill>
                  <a:srgbClr val="5D6B7E"/>
                </a:solidFill>
              </a:rPr>
              <a:t>Seven screening runs used seed 42. The baseline and two strongest variants were then repeated with seeds 43 and 44.</a:t>
            </a:r>
          </a:p>
        </p:txBody>
      </p:sp>
      <p:sp>
        <p:nvSpPr>
          <p:cNvPr id="12" name="column-rule">
            <a:extLst xmlns:a="http://schemas.openxmlformats.org/drawingml/2006/main">
              <a:ext uri="{FF2B5EF4-FFF2-40B4-BE49-F238E27FC236}">
                <a16:creationId xmlns:a16="http://schemas.microsoft.com/office/drawing/2014/main" id="{6746F885-BBF7-48A5-9E5F-FA47858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3" name="factor-label">
            <a:extLst xmlns:a="http://schemas.openxmlformats.org/drawingml/2006/main">
              <a:ext uri="{FF2B5EF4-FFF2-40B4-BE49-F238E27FC236}">
                <a16:creationId xmlns:a16="http://schemas.microsoft.com/office/drawing/2014/main" id="{B665E49F-5964-4F7A-8DCA-7376F7CC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5D8C"/>
                </a:solidFill>
              </a:defRPr>
            </a:pPr>
            <a:r>
              <a:rPr sz="1125" b="1">
                <a:solidFill>
                  <a:srgbClr val="2F5D8C"/>
                </a:solidFill>
              </a:rPr>
              <a:t>WHAT WE CHANGED</a:t>
            </a:r>
          </a:p>
        </p:txBody>
      </p:sp>
      <p:sp>
        <p:nvSpPr>
          <p:cNvPr id="14" name="factor-context-dot">
            <a:extLst xmlns:a="http://schemas.openxmlformats.org/drawingml/2006/main">
              <a:ext uri="{FF2B5EF4-FFF2-40B4-BE49-F238E27FC236}">
                <a16:creationId xmlns:a16="http://schemas.microsoft.com/office/drawing/2014/main" id="{6F6A19D8-49D6-47D0-849F-2E3718A1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5" name="factor-context">
            <a:extLst xmlns:a="http://schemas.openxmlformats.org/drawingml/2006/main">
              <a:ext uri="{FF2B5EF4-FFF2-40B4-BE49-F238E27FC236}">
                <a16:creationId xmlns:a16="http://schemas.microsoft.com/office/drawing/2014/main" id="{8983E959-AB79-4FB1-BA96-FA9CC20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How much context: 128 / 256 / 512 tokens</a:t>
            </a:r>
          </a:p>
        </p:txBody>
      </p:sp>
      <p:sp>
        <p:nvSpPr>
          <p:cNvPr id="16" name="factor-rate-dot">
            <a:extLst xmlns:a="http://schemas.openxmlformats.org/drawingml/2006/main">
              <a:ext uri="{FF2B5EF4-FFF2-40B4-BE49-F238E27FC236}">
                <a16:creationId xmlns:a16="http://schemas.microsoft.com/office/drawing/2014/main" id="{9D032F86-9810-4600-81B8-06CE228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7" name="factor-rate">
            <a:extLst xmlns:a="http://schemas.openxmlformats.org/drawingml/2006/main">
              <a:ext uri="{FF2B5EF4-FFF2-40B4-BE49-F238E27FC236}">
                <a16:creationId xmlns:a16="http://schemas.microsoft.com/office/drawing/2014/main" id="{50DDD8D6-B4B3-46C9-B113-0FD0862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How fast to learn: 1e-4 / 3e-4 / 1e-3</a:t>
            </a:r>
          </a:p>
        </p:txBody>
      </p:sp>
      <p:sp>
        <p:nvSpPr>
          <p:cNvPr id="18" name="factor-weight-dot">
            <a:extLst xmlns:a="http://schemas.openxmlformats.org/drawingml/2006/main">
              <a:ext uri="{FF2B5EF4-FFF2-40B4-BE49-F238E27FC236}">
                <a16:creationId xmlns:a16="http://schemas.microsoft.com/office/drawing/2014/main" id="{76FA2B6B-9967-47A9-BFE9-A0999544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9" name="factor-weight">
            <a:extLst xmlns:a="http://schemas.openxmlformats.org/drawingml/2006/main">
              <a:ext uri="{FF2B5EF4-FFF2-40B4-BE49-F238E27FC236}">
                <a16:creationId xmlns:a16="http://schemas.microsoft.com/office/drawing/2014/main" id="{CBF6C580-A826-44B1-8AC9-039B2270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How to weight classes: equal / balanced</a:t>
            </a:r>
          </a:p>
        </p:txBody>
      </p:sp>
      <p:sp>
        <p:nvSpPr>
          <p:cNvPr id="20" name="factor-depth-dot">
            <a:extLst xmlns:a="http://schemas.openxmlformats.org/drawingml/2006/main">
              <a:ext uri="{FF2B5EF4-FFF2-40B4-BE49-F238E27FC236}">
                <a16:creationId xmlns:a16="http://schemas.microsoft.com/office/drawing/2014/main" id="{1364318A-64FA-4AFE-8056-53945DEC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1" name="factor-depth">
            <a:extLst xmlns:a="http://schemas.openxmlformats.org/drawingml/2006/main">
              <a:ext uri="{FF2B5EF4-FFF2-40B4-BE49-F238E27FC236}">
                <a16:creationId xmlns:a16="http://schemas.microsoft.com/office/drawing/2014/main" id="{9C49D96C-F8CD-43E1-9398-44E75C5D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How much of the model to train: head / last two layers</a:t>
            </a:r>
          </a:p>
        </p:txBody>
      </p:sp>
      <p:sp>
        <p:nvSpPr>
          <p:cNvPr id="22" name="model-line">
            <a:extLst xmlns:a="http://schemas.openxmlformats.org/drawingml/2006/main">
              <a:ext uri="{FF2B5EF4-FFF2-40B4-BE49-F238E27FC236}">
                <a16:creationId xmlns:a16="http://schemas.microsoft.com/office/drawing/2014/main" id="{5D8243BD-1B79-4A51-8AEF-6F17D25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5D8C"/>
                </a:solidFill>
              </a:defRPr>
            </a:pPr>
            <a:r>
              <a:rPr sz="1275" b="1">
                <a:solidFill>
                  <a:srgbClr val="2F5D8C"/>
                </a:solidFill>
              </a:rPr>
              <a:t>Base model: jhu-clsp/mmBERT-small · frozen encoder baseline · binary head</a:t>
            </a:r>
          </a:p>
        </p:txBody>
      </p:sp>
    </p:spTree>
    <p:extLst>
      <p:ext uri="{BB962C8B-B14F-4D97-AF65-F5344CB8AC3E}">
        <p14:creationId xmlns:p14="http://schemas.microsoft.com/office/powerpoint/2010/main" val="538154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61C49BB7-607B-401D-B68F-BDECE8E9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WHAT WE LEARNED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BD517DE-C594-4528-9168-09F8005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05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CDE0F9-EB07-45BD-B394-C0B853F1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4D8AF34-DD4B-42D5-8DAB-05D2B477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5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A4F8D5DA-5B93-487A-B344-AA3E977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88046A70-19BE-434A-B380-0316A60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772885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3FFC0A6-779E-4C8A-A744-E580B6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Training the last two layers gives the best validation F1</a:t>
            </a:r>
          </a:p>
        </p:txBody>
      </p:sp>
      <p:sp>
        <p:nvSpPr>
          <p:cNvPr id="8" name="chart-label">
            <a:extLst xmlns:a="http://schemas.openxmlformats.org/drawingml/2006/main">
              <a:ext uri="{FF2B5EF4-FFF2-40B4-BE49-F238E27FC236}">
                <a16:creationId xmlns:a16="http://schemas.microsoft.com/office/drawing/2014/main" id="{0001E451-2A81-4975-9165-AF12DB9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Positive-class F1 · validation only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76300" y="19431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ff6c4b365a4b37"/>
          </a:graphicData>
        </a:graphic>
      </p:graphicFrame>
      <p:sp>
        <p:nvSpPr>
          <p:cNvPr id="10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7E24B3ED-702F-4E11-88C4-FBB0C52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67000" cy="2952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11" name="result-callout-label">
            <a:extLst xmlns:a="http://schemas.openxmlformats.org/drawingml/2006/main">
              <a:ext uri="{FF2B5EF4-FFF2-40B4-BE49-F238E27FC236}">
                <a16:creationId xmlns:a16="http://schemas.microsoft.com/office/drawing/2014/main" id="{D4C43EB2-916C-47B4-915F-5B8792CB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5D8C"/>
                </a:solidFill>
              </a:defRPr>
            </a:pPr>
            <a:r>
              <a:rPr sz="1125" b="1">
                <a:solidFill>
                  <a:srgbClr val="2F5D8C"/>
                </a:solidFill>
              </a:rPr>
              <a:t>THE SIGNAL</a:t>
            </a:r>
          </a:p>
        </p:txBody>
      </p:sp>
      <p:sp>
        <p:nvSpPr>
          <p:cNvPr id="12" name="result-callout-number">
            <a:extLst xmlns:a="http://schemas.openxmlformats.org/drawingml/2006/main">
              <a:ext uri="{FF2B5EF4-FFF2-40B4-BE49-F238E27FC236}">
                <a16:creationId xmlns:a16="http://schemas.microsoft.com/office/drawing/2014/main" id="{54A5AF9A-7EBC-4C0D-9A3F-ABB15EA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147D83"/>
                </a:solidFill>
              </a:defRPr>
            </a:pPr>
            <a:r>
              <a:rPr sz="3525" b="1">
                <a:solidFill>
                  <a:srgbClr val="147D83"/>
                </a:solidFill>
              </a:rPr>
              <a:t>0.6279</a:t>
            </a:r>
          </a:p>
        </p:txBody>
      </p:sp>
      <p:sp>
        <p:nvSpPr>
          <p:cNvPr id="13" name="result-callout-copy">
            <a:extLst xmlns:a="http://schemas.openxmlformats.org/drawingml/2006/main">
              <a:ext uri="{FF2B5EF4-FFF2-40B4-BE49-F238E27FC236}">
                <a16:creationId xmlns:a16="http://schemas.microsoft.com/office/drawing/2014/main" id="{6352DEE5-9E36-4258-9B6F-D89B99A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mean F1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across three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a06 runs</a:t>
            </a:r>
          </a:p>
        </p:txBody>
      </p:sp>
      <p:sp>
        <p:nvSpPr>
          <p:cNvPr id="14" name="result-callout-baseline">
            <a:extLst xmlns:a="http://schemas.openxmlformats.org/drawingml/2006/main">
              <a:ext uri="{FF2B5EF4-FFF2-40B4-BE49-F238E27FC236}">
                <a16:creationId xmlns:a16="http://schemas.microsoft.com/office/drawing/2014/main" id="{2B40B1FB-9DA9-4229-8EAA-48AB22F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29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Baseline mean: 0.5394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Difference: +0.0885</a:t>
            </a:r>
          </a:p>
        </p:txBody>
      </p:sp>
    </p:spTree>
    <p:extLst>
      <p:ext uri="{BB962C8B-B14F-4D97-AF65-F5344CB8AC3E}">
        <p14:creationId xmlns:p14="http://schemas.microsoft.com/office/powerpoint/2010/main" val="676612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81AC3A3-3865-49CC-922F-89B05B6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READ THE RESULT CAREFULLY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AA0B2DD-FCC2-4314-B3F5-FC2D288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06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9B58C4-18EC-456F-BBFD-3D77CA11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BBD3B4-048E-4C6E-892B-A64C565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6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BC31B171-5236-4615-BC3B-6E005478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A6FF7E66-903A-4E51-B8D7-5738BB3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927462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9E6DAC9-AAB0-4331-AA49-F76109F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The result is useful, but it is not a test score</a:t>
            </a:r>
          </a:p>
        </p:txBody>
      </p:sp>
      <p:sp>
        <p:nvSpPr>
          <p:cNvPr id="8" name="caution-rule">
            <a:extLst xmlns:a="http://schemas.openxmlformats.org/drawingml/2006/main">
              <a:ext uri="{FF2B5EF4-FFF2-40B4-BE49-F238E27FC236}">
                <a16:creationId xmlns:a16="http://schemas.microsoft.com/office/drawing/2014/main" id="{36A1E32C-8397-4727-9DAC-002E016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54"/>
          </a:solidFill>
          <a:ln xmlns:a="http://schemas.openxmlformats.org/drawingml/2006/main" w="0">
            <a:solidFill>
              <a:srgbClr val="C85B54"/>
            </a:solidFill>
            <a:prstDash val="solid"/>
          </a:ln>
        </p:spPr>
      </p:sp>
      <p:sp>
        <p:nvSpPr>
          <p:cNvPr id="9" name="range-label">
            <a:extLst xmlns:a="http://schemas.openxmlformats.org/drawingml/2006/main">
              <a:ext uri="{FF2B5EF4-FFF2-40B4-BE49-F238E27FC236}">
                <a16:creationId xmlns:a16="http://schemas.microsoft.com/office/drawing/2014/main" id="{2BECB4C8-02EA-4A23-85B2-FDBB234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5D8C"/>
                </a:solidFill>
              </a:defRPr>
            </a:pPr>
            <a:r>
              <a:rPr sz="1125" b="1">
                <a:solidFill>
                  <a:srgbClr val="2F5D8C"/>
                </a:solidFill>
              </a:rPr>
              <a:t>ACROSS THE THREE a06 SEEDS</a:t>
            </a:r>
          </a:p>
        </p:txBody>
      </p:sp>
      <p:sp>
        <p:nvSpPr>
          <p:cNvPr id="10" name="range-f1">
            <a:extLst xmlns:a="http://schemas.openxmlformats.org/drawingml/2006/main">
              <a:ext uri="{FF2B5EF4-FFF2-40B4-BE49-F238E27FC236}">
                <a16:creationId xmlns:a16="http://schemas.microsoft.com/office/drawing/2014/main" id="{BFDF80B6-B4AA-422E-9AE9-018E75AC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47D83"/>
                </a:solidFill>
              </a:defRPr>
            </a:pPr>
            <a:r>
              <a:rPr sz="3000" b="1">
                <a:solidFill>
                  <a:srgbClr val="147D83"/>
                </a:solidFill>
              </a:rPr>
              <a:t>0.5640 → 0.6660</a:t>
            </a:r>
          </a:p>
        </p:txBody>
      </p:sp>
      <p:sp>
        <p:nvSpPr>
          <p:cNvPr id="11" name="range-f1-label">
            <a:extLst xmlns:a="http://schemas.openxmlformats.org/drawingml/2006/main">
              <a:ext uri="{FF2B5EF4-FFF2-40B4-BE49-F238E27FC236}">
                <a16:creationId xmlns:a16="http://schemas.microsoft.com/office/drawing/2014/main" id="{7CD248A5-33E1-48E9-B1D8-FBCFE97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D6B7E"/>
                </a:solidFill>
              </a:defRPr>
            </a:pPr>
            <a:r>
              <a:rPr sz="1500" b="0">
                <a:solidFill>
                  <a:srgbClr val="5D6B7E"/>
                </a:solidFill>
              </a:rPr>
              <a:t>positive-class F1</a:t>
            </a:r>
          </a:p>
        </p:txBody>
      </p:sp>
      <p:sp>
        <p:nvSpPr>
          <p:cNvPr id="12" name="range-bal">
            <a:extLst xmlns:a="http://schemas.openxmlformats.org/drawingml/2006/main">
              <a:ext uri="{FF2B5EF4-FFF2-40B4-BE49-F238E27FC236}">
                <a16:creationId xmlns:a16="http://schemas.microsoft.com/office/drawing/2014/main" id="{A724B9BB-D50F-4D15-93B6-3956AF8F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5D8C"/>
                </a:solidFill>
              </a:defRPr>
            </a:pPr>
            <a:r>
              <a:rPr sz="3000" b="1">
                <a:solidFill>
                  <a:srgbClr val="2F5D8C"/>
                </a:solidFill>
              </a:rPr>
              <a:t>0.7681 → 0.7875</a:t>
            </a:r>
          </a:p>
        </p:txBody>
      </p:sp>
      <p:sp>
        <p:nvSpPr>
          <p:cNvPr id="13" name="range-bal-label">
            <a:extLst xmlns:a="http://schemas.openxmlformats.org/drawingml/2006/main">
              <a:ext uri="{FF2B5EF4-FFF2-40B4-BE49-F238E27FC236}">
                <a16:creationId xmlns:a16="http://schemas.microsoft.com/office/drawing/2014/main" id="{4D918AB8-53F6-4F1F-8726-6031DF7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D6B7E"/>
                </a:solidFill>
              </a:defRPr>
            </a:pPr>
            <a:r>
              <a:rPr sz="1500" b="0">
                <a:solidFill>
                  <a:srgbClr val="5D6B7E"/>
                </a:solidFill>
              </a:rPr>
              <a:t>balanced accuracy</a:t>
            </a:r>
          </a:p>
        </p:txBody>
      </p:sp>
      <p:sp>
        <p:nvSpPr>
          <p:cNvPr id="14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F5FCAA1-036D-4081-880D-9CB0D77D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5" name="caveat-label">
            <a:extLst xmlns:a="http://schemas.openxmlformats.org/drawingml/2006/main">
              <a:ext uri="{FF2B5EF4-FFF2-40B4-BE49-F238E27FC236}">
                <a16:creationId xmlns:a16="http://schemas.microsoft.com/office/drawing/2014/main" id="{C76809E3-A255-4D97-BCEB-0F0D4B89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B54"/>
                </a:solidFill>
              </a:defRPr>
            </a:pPr>
            <a:r>
              <a:rPr sz="1125" b="1">
                <a:solidFill>
                  <a:srgbClr val="C85B54"/>
                </a:solidFill>
              </a:rPr>
              <a:t>WHAT THIS DOES NOT SHOW</a:t>
            </a:r>
          </a:p>
        </p:txBody>
      </p:sp>
      <p:sp>
        <p:nvSpPr>
          <p:cNvPr id="16" name="caveat-test-dot">
            <a:extLst xmlns:a="http://schemas.openxmlformats.org/drawingml/2006/main">
              <a:ext uri="{FF2B5EF4-FFF2-40B4-BE49-F238E27FC236}">
                <a16:creationId xmlns:a16="http://schemas.microsoft.com/office/drawing/2014/main" id="{9D472FD8-47D1-4792-B951-0D5F63A6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7" name="caveat-test">
            <a:extLst xmlns:a="http://schemas.openxmlformats.org/drawingml/2006/main">
              <a:ext uri="{FF2B5EF4-FFF2-40B4-BE49-F238E27FC236}">
                <a16:creationId xmlns:a16="http://schemas.microsoft.com/office/drawing/2014/main" id="{7C361943-C8F9-4E41-AE4B-62AE060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There is no held-out test set yet.</a:t>
            </a:r>
          </a:p>
        </p:txBody>
      </p:sp>
      <p:sp>
        <p:nvSpPr>
          <p:cNvPr id="18" name="caveat-seed-dot">
            <a:extLst xmlns:a="http://schemas.openxmlformats.org/drawingml/2006/main">
              <a:ext uri="{FF2B5EF4-FFF2-40B4-BE49-F238E27FC236}">
                <a16:creationId xmlns:a16="http://schemas.microsoft.com/office/drawing/2014/main" id="{28BA41B7-E554-49B9-ADFE-85ACECE0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9" name="caveat-seed">
            <a:extLst xmlns:a="http://schemas.openxmlformats.org/drawingml/2006/main">
              <a:ext uri="{FF2B5EF4-FFF2-40B4-BE49-F238E27FC236}">
                <a16:creationId xmlns:a16="http://schemas.microsoft.com/office/drawing/2014/main" id="{313E0C8D-AC2B-4AC1-9E7C-9E880A7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The estimate moves across seeds.</a:t>
            </a:r>
          </a:p>
        </p:txBody>
      </p:sp>
      <p:sp>
        <p:nvSpPr>
          <p:cNvPr id="20" name="caveat-threshold-dot">
            <a:extLst xmlns:a="http://schemas.openxmlformats.org/drawingml/2006/main">
              <a:ext uri="{FF2B5EF4-FFF2-40B4-BE49-F238E27FC236}">
                <a16:creationId xmlns:a16="http://schemas.microsoft.com/office/drawing/2014/main" id="{A5A3B690-D7EB-4437-ABFC-98FD596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1" name="caveat-threshold">
            <a:extLst xmlns:a="http://schemas.openxmlformats.org/drawingml/2006/main">
              <a:ext uri="{FF2B5EF4-FFF2-40B4-BE49-F238E27FC236}">
                <a16:creationId xmlns:a16="http://schemas.microsoft.com/office/drawing/2014/main" id="{917A3B5C-851C-4597-A0B2-8DB45EDF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Precision and recall still depend on the chosen threshold.</a:t>
            </a:r>
          </a:p>
        </p:txBody>
      </p:sp>
      <p:sp>
        <p:nvSpPr>
          <p:cNvPr id="22" name="caveat-box">
            <a:extLst xmlns:a="http://schemas.openxmlformats.org/drawingml/2006/main">
              <a:ext uri="{FF2B5EF4-FFF2-40B4-BE49-F238E27FC236}">
                <a16:creationId xmlns:a16="http://schemas.microsoft.com/office/drawing/2014/main" id="{09449F25-C044-41AD-9710-BCF5A39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B54"/>
            </a:solidFill>
            <a:prstDash val="solid"/>
          </a:ln>
        </p:spPr>
      </p:sp>
      <p:sp>
        <p:nvSpPr>
          <p:cNvPr id="23" name="caveat-box-copy">
            <a:extLst xmlns:a="http://schemas.openxmlformats.org/drawingml/2006/main">
              <a:ext uri="{FF2B5EF4-FFF2-40B4-BE49-F238E27FC236}">
                <a16:creationId xmlns:a16="http://schemas.microsoft.com/office/drawing/2014/main" id="{C30D297F-E6BB-4DB7-9615-F262F7A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5B54"/>
                </a:solidFill>
              </a:defRPr>
            </a:pPr>
            <a:r>
              <a:rPr sz="1425" b="1">
                <a:solidFill>
                  <a:srgbClr val="C85B54"/>
                </a:solidFill>
              </a:rPr>
              <a:t>Evidence for the next experiment.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5B54"/>
                </a:solidFill>
              </a:defRPr>
            </a:pPr>
            <a:r>
              <a:rPr sz="1425" b="1">
                <a:solidFill>
                  <a:srgbClr val="C85B54"/>
                </a:solidFill>
              </a:rPr>
              <a:t>Not the final claim.</a:t>
            </a:r>
          </a:p>
        </p:txBody>
      </p:sp>
    </p:spTree>
    <p:extLst>
      <p:ext uri="{BB962C8B-B14F-4D97-AF65-F5344CB8AC3E}">
        <p14:creationId xmlns:p14="http://schemas.microsoft.com/office/powerpoint/2010/main" val="2022029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5D1A4DF-11D2-476C-AC60-3D096129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5D8C"/>
                </a:solidFill>
              </a:defRPr>
            </a:pPr>
            <a:r>
              <a:rPr sz="1050" b="1">
                <a:solidFill>
                  <a:srgbClr val="2F5D8C"/>
                </a:solidFill>
              </a:rPr>
              <a:t>NEXT</a:t>
            </a:r>
          </a:p>
        </p:txBody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8A102E4-D4A3-4045-8677-279E9121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07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EFA27C4-1B6A-4F67-B0E6-6DEBB8B4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OSM polygon sentence classifier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6FD0037-9BAF-40DB-ACA7-DD0D8BBB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D6B7E"/>
                </a:solidFill>
              </a:defRPr>
            </a:pPr>
            <a:r>
              <a:rPr sz="975" b="0">
                <a:solidFill>
                  <a:srgbClr val="5D6B7E"/>
                </a:solidFill>
              </a:rPr>
              <a:t>7 / 7</a:t>
            </a:r>
          </a:p>
        </p:txBody>
      </p:sp>
      <p:sp>
        <p:nvSpPr>
          <p:cNvPr id="5" name="footer-progress-bg">
            <a:extLst xmlns:a="http://schemas.openxmlformats.org/drawingml/2006/main">
              <a:ext uri="{FF2B5EF4-FFF2-40B4-BE49-F238E27FC236}">
                <a16:creationId xmlns:a16="http://schemas.microsoft.com/office/drawing/2014/main" id="{109A57D7-FF2E-40F0-8DC7-F3FCF683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6" name="footer-progress">
            <a:extLst xmlns:a="http://schemas.openxmlformats.org/drawingml/2006/main">
              <a:ext uri="{FF2B5EF4-FFF2-40B4-BE49-F238E27FC236}">
                <a16:creationId xmlns:a16="http://schemas.microsoft.com/office/drawing/2014/main" id="{0D9F7478-EA4D-4852-9EFE-553438C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8E38253-39FC-4128-98AD-E1E2E9A5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The next step is a held-out evaluation</a:t>
            </a:r>
          </a:p>
        </p:txBody>
      </p:sp>
      <p:sp>
        <p:nvSpPr>
          <p:cNvPr id="8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C6784338-EB4C-4A41-9E70-1D1FE78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D6B7E"/>
                </a:solidFill>
              </a:defRPr>
            </a:pPr>
            <a:r>
              <a:rPr sz="1800" b="0">
                <a:solidFill>
                  <a:srgbClr val="5D6B7E"/>
                </a:solidFill>
              </a:rPr>
              <a:t>The first study has a clear result and a clear boundary.</a:t>
            </a:r>
          </a:p>
        </p:txBody>
      </p:sp>
      <p:sp>
        <p:nvSpPr>
          <p:cNvPr id="9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9A470E52-5895-462F-8DB6-01BAFE0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0" name="next-one">
            <a:extLst xmlns:a="http://schemas.openxmlformats.org/drawingml/2006/main">
              <a:ext uri="{FF2B5EF4-FFF2-40B4-BE49-F238E27FC236}">
                <a16:creationId xmlns:a16="http://schemas.microsoft.com/office/drawing/2014/main" id="{01BD91FF-5297-4313-8594-13F056F2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4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2F5D8C"/>
                </a:solidFill>
              </a:defRPr>
            </a:pPr>
            <a:r>
              <a:rPr sz="4650" b="1">
                <a:solidFill>
                  <a:srgbClr val="2F5D8C"/>
                </a:solidFill>
              </a:rPr>
              <a:t>1</a:t>
            </a:r>
          </a:p>
        </p:txBody>
      </p:sp>
      <p:sp>
        <p:nvSpPr>
          <p:cNvPr id="11" name="next-one-copy">
            <a:extLst xmlns:a="http://schemas.openxmlformats.org/drawingml/2006/main">
              <a:ext uri="{FF2B5EF4-FFF2-40B4-BE49-F238E27FC236}">
                <a16:creationId xmlns:a16="http://schemas.microsoft.com/office/drawing/2014/main" id="{908459D0-034C-4E65-B84C-CD3CF20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241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Freeze the protocol and publish a held-out evaluation split.</a:t>
            </a:r>
          </a:p>
        </p:txBody>
      </p:sp>
      <p:sp>
        <p:nvSpPr>
          <p:cNvPr id="12" name="next-rule-one">
            <a:extLst xmlns:a="http://schemas.openxmlformats.org/drawingml/2006/main">
              <a:ext uri="{FF2B5EF4-FFF2-40B4-BE49-F238E27FC236}">
                <a16:creationId xmlns:a16="http://schemas.microsoft.com/office/drawing/2014/main" id="{4331E77A-F119-476D-88F9-826149DA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3" name="next-two">
            <a:extLst xmlns:a="http://schemas.openxmlformats.org/drawingml/2006/main">
              <a:ext uri="{FF2B5EF4-FFF2-40B4-BE49-F238E27FC236}">
                <a16:creationId xmlns:a16="http://schemas.microsoft.com/office/drawing/2014/main" id="{502CB0AA-66F1-487B-BC60-FB937B7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4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147D83"/>
                </a:solidFill>
              </a:defRPr>
            </a:pPr>
            <a:r>
              <a:rPr sz="4650" b="1">
                <a:solidFill>
                  <a:srgbClr val="147D83"/>
                </a:solidFill>
              </a:rPr>
              <a:t>2</a:t>
            </a:r>
          </a:p>
        </p:txBody>
      </p:sp>
      <p:sp>
        <p:nvSpPr>
          <p:cNvPr id="14" name="next-two-copy">
            <a:extLst xmlns:a="http://schemas.openxmlformats.org/drawingml/2006/main">
              <a:ext uri="{FF2B5EF4-FFF2-40B4-BE49-F238E27FC236}">
                <a16:creationId xmlns:a16="http://schemas.microsoft.com/office/drawing/2014/main" id="{DDD7380B-7899-4F72-B722-E43FECA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Compare threshold behavior, not only one operating point.</a:t>
            </a:r>
          </a:p>
        </p:txBody>
      </p:sp>
      <p:sp>
        <p:nvSpPr>
          <p:cNvPr id="15" name="next-rule-two">
            <a:extLst xmlns:a="http://schemas.openxmlformats.org/drawingml/2006/main">
              <a:ext uri="{FF2B5EF4-FFF2-40B4-BE49-F238E27FC236}">
                <a16:creationId xmlns:a16="http://schemas.microsoft.com/office/drawing/2014/main" id="{06C1B7A5-3E79-4ABB-8E79-573ABA00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next-three">
            <a:extLst xmlns:a="http://schemas.openxmlformats.org/drawingml/2006/main">
              <a:ext uri="{FF2B5EF4-FFF2-40B4-BE49-F238E27FC236}">
                <a16:creationId xmlns:a16="http://schemas.microsoft.com/office/drawing/2014/main" id="{F29C9FE9-1CF0-47C6-BF32-31CDFC1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2F5D8C"/>
                </a:solidFill>
              </a:defRPr>
            </a:pPr>
            <a:r>
              <a:rPr sz="4650" b="1">
                <a:solidFill>
                  <a:srgbClr val="2F5D8C"/>
                </a:solidFill>
              </a:rPr>
              <a:t>3</a:t>
            </a:r>
          </a:p>
        </p:txBody>
      </p:sp>
      <p:sp>
        <p:nvSpPr>
          <p:cNvPr id="17" name="next-three-copy">
            <a:extLst xmlns:a="http://schemas.openxmlformats.org/drawingml/2006/main">
              <a:ext uri="{FF2B5EF4-FFF2-40B4-BE49-F238E27FC236}">
                <a16:creationId xmlns:a16="http://schemas.microsoft.com/office/drawing/2014/main" id="{FCE7D6AA-9463-45BA-A4EC-DF65601E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05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Keep each model, run record, and metric log tied to one experiment.</a:t>
            </a:r>
          </a:p>
        </p:txBody>
      </p:sp>
      <p:sp>
        <p:nvSpPr>
          <p:cNvPr id="18" name="identity-line">
            <a:extLst xmlns:a="http://schemas.openxmlformats.org/drawingml/2006/main">
              <a:ext uri="{FF2B5EF4-FFF2-40B4-BE49-F238E27FC236}">
                <a16:creationId xmlns:a16="http://schemas.microsoft.com/office/drawing/2014/main" id="{FAAE0F73-EC64-439D-AF0E-4B9C95D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landuse-v1 · dataset 07e421a3 · model abc32620 · source 496de7e5</a:t>
            </a:r>
          </a:p>
        </p:txBody>
      </p:sp>
    </p:spTree>
    <p:extLst>
      <p:ext uri="{BB962C8B-B14F-4D97-AF65-F5344CB8AC3E}">
        <p14:creationId xmlns:p14="http://schemas.microsoft.com/office/powerpoint/2010/main" val="594455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2026-08-07T08:57:48.2280000Z</dcterms:created>
  <dcterms:modified xsi:type="dcterms:W3CDTF">2026-08-07T08:57:48.2280000Z</dcterms:modified>
</coreProperties>
</file>